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7127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0:00–0:20 Riya. Do not read the slide. One sentence: WhatsApp photos become clause-cited scores a manager can trust. Then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0:20–0:50 Riya. Cite 6.7M as context, not TAM. If challenged: Mint 17 Jun 2026 on FSSAI; Lok Sabha / MoHFW FY26 via ANI 24 Jul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0:50–1:05. Ten seconds on this slide, then Alt-Tab to the live app. Do not linger.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 this, then Alt-Tab. Anikesh drives. If Gemini hangs past 75s, disclose golden_gap_open.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4:40–5:30 Anikesh. Extract HIGH, score MEDIUM, re-check one photo/one clause. Confidence is evidence sufficiency. No silent stub.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5:30–6:10 Riya. ₹799 is a working price, not a live plan. Not FSSAI certification. Beachhead is not 6.7M sites. 5.2 lakh and 16,000 licences: same Lok Sabha source as slide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6:10–6:35. Campus first. Then trainers. Then small chains. Scale is SOP packs and sites, not chat.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6:35–7:00. One recap sentence. Links. Stop talking. Hands off the mouse.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only. ChatGPT can describe a photo. It cannot run a shift.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only. Golden shifts are insurance, disclosed. Attestation is labelled.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only. 6.7M is context, not TAM. Exact inspection count is 5,20,566. Fail rate is 40,023 / 2,23,808.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vemint.com/industry/fssai-permanent-food-licence-rules-india-food-businesses-11781512568008.ht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aninews.in/news/business/over-40000-food-samples-failed-safety-tests-in-fy26-govt-tells-parliament2026072416282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C:\Users\kamal\Desktop\JammuHackathon\web\playwright-shots\login-after-redesign-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0"/>
            <a:ext cx="1097280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7059168" cy="685800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731520" y="502920"/>
            <a:ext cx="146304" cy="146304"/>
          </a:xfrm>
          <a:prstGeom prst="rect">
            <a:avLst/>
          </a:prstGeom>
          <a:solidFill>
            <a:srgbClr val="A83828"/>
          </a:solidFill>
          <a:ln w="12700">
            <a:solidFill>
              <a:srgbClr val="A8382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024128" y="457200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2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FIRST HACKATHON  ·  GRAND FINALE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731520" y="187452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ShiftProof</a:t>
            </a:r>
            <a:endParaRPr lang="en-US" sz="4800" dirty="0"/>
          </a:p>
        </p:txBody>
      </p:sp>
      <p:sp>
        <p:nvSpPr>
          <p:cNvPr id="8" name="Text 4"/>
          <p:cNvSpPr/>
          <p:nvPr/>
        </p:nvSpPr>
        <p:spPr>
          <a:xfrm>
            <a:off x="731520" y="2788920"/>
            <a:ext cx="5349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A83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WhatsApp shift photos become clause-cited scores a manager can trust.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731520" y="4023360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Photo-proof SOP compliance  ·  one café open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AI for Industry, Business &amp; Productivity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31520" y="598932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Lunaris  ·  Anikesh Paul &amp; Riya Sinha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ICFAI University Tripura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146304" cy="146304"/>
          </a:xfrm>
          <a:prstGeom prst="rect">
            <a:avLst/>
          </a:prstGeom>
          <a:solidFill>
            <a:srgbClr val="A83828"/>
          </a:solidFill>
          <a:ln w="12700">
            <a:solidFill>
              <a:srgbClr val="A83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24128" y="45720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4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SOPs exist. Daily proof is a WhatsApp dump.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31520" y="17373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live in PDFs. Proof is a messy chat thread. Inspection day is when the gaps appear.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31520" y="2212848"/>
            <a:ext cx="33832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2688" y="2304288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A83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6.7M</a:t>
            </a:r>
            <a:r>
              <a:rPr lang="en-US" sz="1400" dirty="0">
                <a:solidFill>
                  <a:srgbClr val="A8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¹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932688" y="2999232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businesses in India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89120" y="2212848"/>
            <a:ext cx="33832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90288" y="2304288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A83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5.2 lakh</a:t>
            </a:r>
            <a:r>
              <a:rPr lang="en-US" sz="1400" dirty="0">
                <a:solidFill>
                  <a:srgbClr val="A8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²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4590288" y="2999232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inspections in FY 2025–26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(+30% vs prior year)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046720" y="2212848"/>
            <a:ext cx="33832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47888" y="2304288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A83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 in 5</a:t>
            </a:r>
            <a:r>
              <a:rPr lang="en-US" sz="1400" dirty="0">
                <a:solidFill>
                  <a:srgbClr val="A8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²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8247888" y="2999232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failed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tests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31520" y="3950208"/>
            <a:ext cx="25603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950208"/>
            <a:ext cx="91440" cy="1298448"/>
          </a:xfrm>
          <a:prstGeom prst="rect">
            <a:avLst/>
          </a:prstGeom>
          <a:solidFill>
            <a:srgbClr val="A83828"/>
          </a:solidFill>
          <a:ln w="12700">
            <a:solidFill>
              <a:srgbClr val="A8382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7552" y="4078224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PDF SOPs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987552" y="4498848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opens them on the floor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474720" y="3950208"/>
            <a:ext cx="25603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474720" y="3950208"/>
            <a:ext cx="91440" cy="1298448"/>
          </a:xfrm>
          <a:prstGeom prst="rect">
            <a:avLst/>
          </a:prstGeom>
          <a:solidFill>
            <a:srgbClr val="A83828"/>
          </a:solidFill>
          <a:ln w="12700">
            <a:solidFill>
              <a:srgbClr val="A8382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730752" y="4078224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WhatsApp photos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3730752" y="4498848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linked to any clause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217920" y="3950208"/>
            <a:ext cx="25603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217920" y="3950208"/>
            <a:ext cx="91440" cy="1298448"/>
          </a:xfrm>
          <a:prstGeom prst="rect">
            <a:avLst/>
          </a:prstGeom>
          <a:solidFill>
            <a:srgbClr val="A83828"/>
          </a:solidFill>
          <a:ln w="12700">
            <a:solidFill>
              <a:srgbClr val="A8382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73952" y="4078224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Hope as proof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473952" y="4498848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has to trust, not see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8961120" y="3950208"/>
            <a:ext cx="25603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961120" y="3950208"/>
            <a:ext cx="91440" cy="1298448"/>
          </a:xfrm>
          <a:prstGeom prst="rect">
            <a:avLst/>
          </a:prstGeom>
          <a:solidFill>
            <a:srgbClr val="A83828"/>
          </a:solidFill>
          <a:ln w="12700">
            <a:solidFill>
              <a:srgbClr val="A8382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217152" y="4078224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Inspection panic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9217152" y="4498848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day-to-day gap log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731520" y="53949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FSSAI perpetual-licence reform: more than 6.7 million food business operators. Mint, 17 Jun 2026.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5,20,566 inspections; 40,023 of 2,23,808 samples non-conforming. Ministry of Health written reply, Lok Sabha, FY 2025–26 (ANI, 24 Jul 2026).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146304" cy="146304"/>
          </a:xfrm>
          <a:prstGeom prst="rect">
            <a:avLst/>
          </a:prstGeom>
          <a:solidFill>
            <a:srgbClr val="A83828"/>
          </a:solidFill>
          <a:ln w="12700">
            <a:solidFill>
              <a:srgbClr val="A83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6473952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ShiftProof · Lunaris · AI First Hackathon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" y="45720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4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Photos in. Pass, Gap, or Unclear out.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731520" y="1719072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finding quotes the SOP. Fix it. Export one page. Not a chat.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389888" y="2240280"/>
            <a:ext cx="475488" cy="475488"/>
          </a:xfrm>
          <a:prstGeom prst="ellipse">
            <a:avLst/>
          </a:prstGeom>
          <a:solidFill>
            <a:srgbClr val="A83828"/>
          </a:solidFill>
          <a:ln w="12700">
            <a:solidFill>
              <a:srgbClr val="A838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89888" y="228600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029968" y="2450592"/>
            <a:ext cx="1371600" cy="36576"/>
          </a:xfrm>
          <a:prstGeom prst="rect">
            <a:avLst/>
          </a:prstGeom>
          <a:solidFill>
            <a:srgbClr val="D9D5CC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28529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Staff photos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31520" y="3200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3–8 shots of the open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566160" y="2240280"/>
            <a:ext cx="475488" cy="475488"/>
          </a:xfrm>
          <a:prstGeom prst="ellipse">
            <a:avLst/>
          </a:prstGeom>
          <a:solidFill>
            <a:srgbClr val="A83828"/>
          </a:solidFill>
          <a:ln w="12700">
            <a:solidFill>
              <a:srgbClr val="A8382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66160" y="228600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206240" y="2450592"/>
            <a:ext cx="1371600" cy="36576"/>
          </a:xfrm>
          <a:prstGeom prst="rect">
            <a:avLst/>
          </a:prstGeom>
          <a:solidFill>
            <a:srgbClr val="D9D5CC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07792" y="28529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Gemini scores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2907792" y="3200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the live clause set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742432" y="2240280"/>
            <a:ext cx="475488" cy="475488"/>
          </a:xfrm>
          <a:prstGeom prst="ellipse">
            <a:avLst/>
          </a:prstGeom>
          <a:solidFill>
            <a:srgbClr val="A83828"/>
          </a:solidFill>
          <a:ln w="12700">
            <a:solidFill>
              <a:srgbClr val="A8382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42432" y="228600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382512" y="2450592"/>
            <a:ext cx="1371600" cy="36576"/>
          </a:xfrm>
          <a:prstGeom prst="rect">
            <a:avLst/>
          </a:prstGeom>
          <a:solidFill>
            <a:srgbClr val="D9D5CC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84064" y="28529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Scoreboard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084064" y="3200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Gap / Unclear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918704" y="2240280"/>
            <a:ext cx="475488" cy="475488"/>
          </a:xfrm>
          <a:prstGeom prst="ellipse">
            <a:avLst/>
          </a:prstGeom>
          <a:solidFill>
            <a:srgbClr val="A83828"/>
          </a:solidFill>
          <a:ln w="12700">
            <a:solidFill>
              <a:srgbClr val="A8382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918704" y="228600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8558784" y="2450592"/>
            <a:ext cx="1371600" cy="36576"/>
          </a:xfrm>
          <a:prstGeom prst="rect">
            <a:avLst/>
          </a:prstGeom>
          <a:solidFill>
            <a:srgbClr val="D9D5CC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260336" y="28529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Manager acts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260336" y="3200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Override, assign, reject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10094976" y="2240280"/>
            <a:ext cx="475488" cy="475488"/>
          </a:xfrm>
          <a:prstGeom prst="ellipse">
            <a:avLst/>
          </a:prstGeom>
          <a:solidFill>
            <a:srgbClr val="A83828"/>
          </a:solidFill>
          <a:ln w="12700">
            <a:solidFill>
              <a:srgbClr val="A8382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094976" y="228600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9436608" y="28529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One-page pack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9436608" y="3200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trail, not a certificate</a:t>
            </a:r>
            <a:endParaRPr lang="en-US" sz="1300" dirty="0"/>
          </a:p>
        </p:txBody>
      </p:sp>
      <p:pic>
        <p:nvPicPr>
          <p:cNvPr id="33" name="Image 0" descr="C:\Users\kamal\Desktop\JammuHackathon\images\staffOpenin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3840480"/>
            <a:ext cx="6720840" cy="2331720"/>
          </a:xfrm>
          <a:prstGeom prst="rect">
            <a:avLst/>
          </a:prstGeom>
        </p:spPr>
      </p:pic>
      <p:sp>
        <p:nvSpPr>
          <p:cNvPr id="34" name="Shape 30"/>
          <p:cNvSpPr/>
          <p:nvPr/>
        </p:nvSpPr>
        <p:spPr>
          <a:xfrm>
            <a:off x="731520" y="3840480"/>
            <a:ext cx="6720840" cy="2331720"/>
          </a:xfrm>
          <a:prstGeom prst="rect">
            <a:avLst/>
          </a:prstGeom>
          <a:ln w="12700">
            <a:solidFill>
              <a:srgbClr val="D9D5CC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7680960" y="3840480"/>
            <a:ext cx="3749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7882128" y="40050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40" dirty="0">
                <a:solidFill>
                  <a:srgbClr val="A8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freeze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7882128" y="4370832"/>
            <a:ext cx="3383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café opening checklist.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Scoreboard only — no free chat.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is a feature.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override is required.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146304" cy="146304"/>
          </a:xfrm>
          <a:prstGeom prst="rect">
            <a:avLst/>
          </a:prstGeom>
          <a:solidFill>
            <a:srgbClr val="A83828"/>
          </a:solidFill>
          <a:ln w="12700">
            <a:solidFill>
              <a:srgbClr val="A83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6473952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ShiftProof · Lunaris · AI First Hackathon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" y="45720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4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next four minutes are the product.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731520" y="1965960"/>
            <a:ext cx="6675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1965960"/>
            <a:ext cx="91440" cy="841248"/>
          </a:xfrm>
          <a:prstGeom prst="rect">
            <a:avLst/>
          </a:prstGeom>
          <a:solidFill>
            <a:srgbClr val="A83828"/>
          </a:solidFill>
          <a:ln w="12700">
            <a:solidFill>
              <a:srgbClr val="A838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24128" y="21671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A83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783080" y="207568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Staff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783080" y="238658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gap kit. Submit proof.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31520" y="2926080"/>
            <a:ext cx="6675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1520" y="2926080"/>
            <a:ext cx="91440" cy="841248"/>
          </a:xfrm>
          <a:prstGeom prst="rect">
            <a:avLst/>
          </a:prstGeom>
          <a:solidFill>
            <a:srgbClr val="A83828"/>
          </a:solidFill>
          <a:ln w="12700">
            <a:solidFill>
              <a:srgbClr val="A8382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24128" y="31272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A83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783080" y="303580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783080" y="334670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Flash. Clause, quote, High / Medium / Low.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31520" y="3886200"/>
            <a:ext cx="6675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31520" y="3886200"/>
            <a:ext cx="91440" cy="841248"/>
          </a:xfrm>
          <a:prstGeom prst="rect">
            <a:avLst/>
          </a:prstGeom>
          <a:solidFill>
            <a:srgbClr val="A83828"/>
          </a:solidFill>
          <a:ln w="12700">
            <a:solidFill>
              <a:srgbClr val="A8382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24128" y="40873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A83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1783080" y="399592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783080" y="430682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with a reason. Assign a fix.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731520" y="4846320"/>
            <a:ext cx="6675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31520" y="4846320"/>
            <a:ext cx="91440" cy="841248"/>
          </a:xfrm>
          <a:prstGeom prst="rect">
            <a:avLst/>
          </a:prstGeom>
          <a:solidFill>
            <a:srgbClr val="A83828"/>
          </a:solidFill>
          <a:ln w="12700">
            <a:solidFill>
              <a:srgbClr val="A8382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24128" y="50474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A83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1783080" y="495604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Pack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783080" y="526694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 compliance record.</a:t>
            </a:r>
            <a:endParaRPr lang="en-US" sz="1400" dirty="0"/>
          </a:p>
        </p:txBody>
      </p:sp>
      <p:pic>
        <p:nvPicPr>
          <p:cNvPr id="28" name="Image 0" descr="C:\Users\kamal\Desktop\JammuHackathon\finale\assets\scoreboard-cro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80960" y="1965960"/>
            <a:ext cx="3749040" cy="3840480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7680960" y="1965960"/>
            <a:ext cx="3749040" cy="3840480"/>
          </a:xfrm>
          <a:prstGeom prst="rect">
            <a:avLst/>
          </a:prstGeom>
          <a:ln w="12700">
            <a:solidFill>
              <a:srgbClr val="D9D5CC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146304" cy="146304"/>
          </a:xfrm>
          <a:prstGeom prst="rect">
            <a:avLst/>
          </a:prstGeom>
          <a:solidFill>
            <a:srgbClr val="A83828"/>
          </a:solidFill>
          <a:ln w="12700">
            <a:solidFill>
              <a:srgbClr val="A83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6473952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ShiftProof · Lunaris · AI First Hackathon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" y="45720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4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Function. Three honest calls.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731520" y="1874520"/>
            <a:ext cx="34290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2688" y="19933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A8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32688" y="22860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SOP upload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32688" y="27889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at high thinking pulls at most eight photo-provable opening rules. That live set is what is in force. A failed extract leaves the previous set.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89120" y="1874520"/>
            <a:ext cx="34290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90288" y="19933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A8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90288" y="22860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Opening check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590288" y="27889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thinking. Photo pool plus the live set — never the PDF again. JSON findings: Pass / Gap / Unclear, clause, quote, confidence.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046720" y="1874520"/>
            <a:ext cx="34290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47888" y="19933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A8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RE-CHECK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247888" y="22860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photo, one clause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247888" y="27889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Function, different body. If the model is down, staff attest — labelled Staff attested, never as AI.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31520" y="4663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Pass requires High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31520" y="50292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is always Unclear. Gap may stand at Medium.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474720" y="4663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Keys stay on the server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3474720" y="50292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+ Appwrite server key on the Function only.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217920" y="4663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Failures fail clean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217920" y="50292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silent stub. Jobs older than 10 min fail on load.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961120" y="4663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is in the loop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8961120" y="50292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needs a reason. Reject if it is not an opening.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146304" cy="146304"/>
          </a:xfrm>
          <a:prstGeom prst="rect">
            <a:avLst/>
          </a:prstGeom>
          <a:solidFill>
            <a:srgbClr val="A83828"/>
          </a:solidFill>
          <a:ln w="12700">
            <a:solidFill>
              <a:srgbClr val="A83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24128" y="45720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4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owner-manager pays. WhatsApp is free, and unusable.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731520" y="1828800"/>
            <a:ext cx="521208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7552" y="1975104"/>
            <a:ext cx="4700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A8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87552" y="2231136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Café owner-manager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987552" y="2670048"/>
            <a:ext cx="4700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5–50 people. Already has an SOP. Already collects phone photos. Staff will not buy this.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17920" y="1828800"/>
            <a:ext cx="521208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73952" y="1975104"/>
            <a:ext cx="4700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A8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73952" y="2231136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₹799 / site / month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473952" y="2670048"/>
            <a:ext cx="4700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working number for one café, unlimited opens — not a live price. A 5-site pack for a small chain later.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31520" y="3730752"/>
            <a:ext cx="521208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87552" y="3877056"/>
            <a:ext cx="4700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A8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87552" y="4133088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Inspection pressure is up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987552" y="4572000"/>
            <a:ext cx="4700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lakh inspections in FY 2025–26.² Nearly 16,000 licences suspended or cancelled over five years.²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217920" y="3730752"/>
            <a:ext cx="521208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73952" y="3877056"/>
            <a:ext cx="4700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A8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SELLING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73952" y="4133088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Certification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473952" y="4572000"/>
            <a:ext cx="4700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pass you. We leave daily, clause-cited proof so inspection day is not a surprise.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31520" y="5669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5,20,566 inspections in FY 2025–26; 4,461 licences suspended and 11,493 cancelled over five years. Ministry of Health written reply, Lok Sabha (ANI, 24 Jul 2026).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146304" cy="146304"/>
          </a:xfrm>
          <a:prstGeom prst="rect">
            <a:avLst/>
          </a:prstGeom>
          <a:solidFill>
            <a:srgbClr val="A83828"/>
          </a:solidFill>
          <a:ln w="12700">
            <a:solidFill>
              <a:srgbClr val="A83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6473952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ShiftProof · Lunaris · AI First Hackathon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" y="45720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4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&amp; SCALE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spine. New packs. Not a second industry this week.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731520" y="1920240"/>
            <a:ext cx="34290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50976" y="2048256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83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50976" y="2468880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Campus cafés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50976" y="297180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walk in. Mess and kiosk opens already take photos.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89120" y="1920240"/>
            <a:ext cx="34290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08576" y="2048256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83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608576" y="2468880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 cafés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608576" y="297180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FoSTaC / hygiene trainers who already talk to owners.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046720" y="1920240"/>
            <a:ext cx="34290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66176" y="2048256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83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8266176" y="2468880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multi-unit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266176" y="297180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5-site pack for QSR that dumps WhatsApp photos to an area manager.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731520" y="4297680"/>
            <a:ext cx="10698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51560" y="44622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scales  ·  what does not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051560" y="4864608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Scales: more SOP packs (closing, retail), more sites, stronger packs. The Function, findings schema, and HITL stay.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scale this as: a chatbot, a hospital QMS, or a promise that you will pass inspection.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146304" cy="146304"/>
          </a:xfrm>
          <a:prstGeom prst="rect">
            <a:avLst/>
          </a:prstGeom>
          <a:solidFill>
            <a:srgbClr val="A83828"/>
          </a:solidFill>
          <a:ln w="12700">
            <a:solidFill>
              <a:srgbClr val="A83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6473952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ShiftProof · Lunaris · AI First Hackathon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" y="45720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4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SHIFTPROOF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10972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Photo in. Scoreboard out.</a:t>
            </a:r>
            <a:endParaRPr lang="en-US" sz="3600" dirty="0"/>
          </a:p>
          <a:p>
            <a:pPr marL="0" indent="0">
              <a:buNone/>
            </a:pPr>
            <a:r>
              <a:rPr lang="en-US" sz="3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still in the loop.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731520" y="2788920"/>
            <a:ext cx="34290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87552" y="3035808"/>
            <a:ext cx="256032" cy="256032"/>
          </a:xfrm>
          <a:prstGeom prst="ellipse">
            <a:avLst/>
          </a:prstGeom>
          <a:solidFill>
            <a:srgbClr val="2D7A52"/>
          </a:solidFill>
          <a:ln w="12700">
            <a:solidFill>
              <a:srgbClr val="2D7A5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71600" y="298094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87552" y="3474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supports the clause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89120" y="2788920"/>
            <a:ext cx="34290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45152" y="3035808"/>
            <a:ext cx="256032" cy="256032"/>
          </a:xfrm>
          <a:prstGeom prst="ellipse">
            <a:avLst/>
          </a:prstGeom>
          <a:solidFill>
            <a:srgbClr val="A83828"/>
          </a:solidFill>
          <a:ln w="12700">
            <a:solidFill>
              <a:srgbClr val="A8382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0" y="298094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645152" y="3474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supports non-compliance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046720" y="2788920"/>
            <a:ext cx="34290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02752" y="3035808"/>
            <a:ext cx="256032" cy="256032"/>
          </a:xfrm>
          <a:prstGeom prst="ellipse">
            <a:avLst/>
          </a:prstGeom>
          <a:solidFill>
            <a:srgbClr val="8A6A2F"/>
          </a:solidFill>
          <a:ln w="12700">
            <a:solidFill>
              <a:srgbClr val="8A6A2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86800" y="298094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Unclear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302752" y="3474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evidence — manager decides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31520" y="43434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A83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Questions.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731520" y="49377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 ·  shift-proof-phi.vercel.app     Code  ·  github.com/Anikesh-Paul/ShiftProof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3152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Lunaris  ·  Anikesh Paul  ·  Riya Sinha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146304" cy="146304"/>
          </a:xfrm>
          <a:prstGeom prst="rect">
            <a:avLst/>
          </a:prstGeom>
          <a:solidFill>
            <a:srgbClr val="A83828"/>
          </a:solidFill>
          <a:ln w="12700">
            <a:solidFill>
              <a:srgbClr val="A83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6473952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ShiftProof · Lunaris · AI First Hackathon  ·  Q&amp;A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" y="45720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4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is not ChatGPT plus a login.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731520" y="1874520"/>
            <a:ext cx="10698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20391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WhatsApp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566160" y="20391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already there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15200" y="20391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clauses, no audit, no scoreboard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31520" y="2624328"/>
            <a:ext cx="10698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87552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Forms / checklists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566160" y="2788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habit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315200" y="2788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see a messy photo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31520" y="3374136"/>
            <a:ext cx="10698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7552" y="35387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ChatGPT on a photo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566160" y="35387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describe a scene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315200" y="35387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shift, no source, no pack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31520" y="4123944"/>
            <a:ext cx="10698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87552" y="428853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QMS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3566160" y="428853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compliance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315200" y="428853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heavy for a 15-person café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731520" y="4873752"/>
            <a:ext cx="10698480" cy="676656"/>
          </a:xfrm>
          <a:prstGeom prst="rect">
            <a:avLst/>
          </a:prstGeom>
          <a:solidFill>
            <a:srgbClr val="F4E8E4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87552" y="50383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83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ShiftProof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566160" y="50383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opening habit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315200" y="50383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+ live clauses + HITL + pack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146304" cy="146304"/>
          </a:xfrm>
          <a:prstGeom prst="rect">
            <a:avLst/>
          </a:prstGeom>
          <a:solidFill>
            <a:srgbClr val="A83828"/>
          </a:solidFill>
          <a:ln w="12700">
            <a:solidFill>
              <a:srgbClr val="A83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6473952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ShiftProof · Lunaris · AI First Hackathon  ·  Q&amp;A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" y="45720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4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the model is wrong, slow, or down.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731520" y="1874520"/>
            <a:ext cx="5212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2039112"/>
            <a:ext cx="4700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Wrong Pass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87552" y="2404872"/>
            <a:ext cx="4700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override with a required reason. Audit event keeps AI vs human distinct.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17920" y="1874520"/>
            <a:ext cx="5212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73952" y="2039112"/>
            <a:ext cx="4700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 photo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73952" y="2404872"/>
            <a:ext cx="4700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Unclear. We do not invent a Pass. Manager can request a retake or reject the check.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31520" y="3246120"/>
            <a:ext cx="5212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7552" y="3410712"/>
            <a:ext cx="4700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Gemini down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987552" y="3776472"/>
            <a:ext cx="4700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fails clean. Retry. Stale jobs fail after 10 minutes. No silent stub.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217920" y="3246120"/>
            <a:ext cx="5212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73952" y="3410712"/>
            <a:ext cx="4700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Re-check fails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473952" y="3776472"/>
            <a:ext cx="4700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attestation, labelled Staff attested — never stamped as AI.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31520" y="4617720"/>
            <a:ext cx="5212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87552" y="4782312"/>
            <a:ext cx="4700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On-stage miss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987552" y="5148072"/>
            <a:ext cx="4700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Disclose a golden pre-scored opening on the same gap kit. Continue override → pack.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217920" y="4617720"/>
            <a:ext cx="5212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73952" y="4782312"/>
            <a:ext cx="4700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Known limit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473952" y="5148072"/>
            <a:ext cx="4700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EXIF forensics in the MVP. Manager sees the photos and can reject the opening.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146304" cy="146304"/>
          </a:xfrm>
          <a:prstGeom prst="rect">
            <a:avLst/>
          </a:prstGeom>
          <a:solidFill>
            <a:srgbClr val="A83828"/>
          </a:solidFill>
          <a:ln w="12700">
            <a:solidFill>
              <a:srgbClr val="A83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6473952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ShiftProof · Lunaris · AI First Hackathon  ·  Q&amp;A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" y="45720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4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numbers come from.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731520" y="1920240"/>
            <a:ext cx="10698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87552" y="20848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3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508760" y="2066544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6.7 million food businesses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508760" y="24231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FSSAI perpetual-licence reform, covering more than 6.7 million food business operators. </a:t>
            </a:r>
            <a:r>
              <a:rPr lang="en-US" sz="1400" u="sng" dirty="0">
                <a:solidFill>
                  <a:srgbClr val="7A7A7A"/>
                </a:solidFill>
                <a:uFill>
                  <a:solidFill>
                    <a:srgbClr val="7A7A7A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  <a:hlinkClick r:id="rId3" tooltip="Mint, 17 Jun 2026" history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Mint</a:t>
            </a:r>
            <a:r>
              <a:rPr lang="en-US" sz="1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17 Jun 2026.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31520" y="3291840"/>
            <a:ext cx="10698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87552" y="34564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3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508760" y="3438144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5.2 lakh inspections  ·  ~1 in 5 samples  ·  ~16,000 licence actions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508760" y="37947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Health written reply, Lok Sabha. FY 2025–26: 5,20,566 inspections (vs 4,01,391 in FY 2024–25); 40,023 of 2,23,808 samples non-conforming. Five years: 4,461 licences suspended, 11,493 cancelled. Reported by </a:t>
            </a:r>
            <a:r>
              <a:rPr lang="en-US" sz="1400" u="sng" dirty="0">
                <a:solidFill>
                  <a:srgbClr val="7A7A7A"/>
                </a:solidFill>
                <a:uFill>
                  <a:solidFill>
                    <a:srgbClr val="7A7A7A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  <a:hlinkClick r:id="rId4" tooltip="ANI, 24 Jul 2026" history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ANI</a:t>
            </a:r>
            <a:r>
              <a:rPr lang="en-US" sz="1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24 Jul 2026.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31520" y="4663440"/>
            <a:ext cx="10698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87552" y="48280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3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508760" y="4809744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₹799 / site / month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508760" y="51663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working price for the pitch — not a live plan, not a surveyed WTP figure. Label it as such if asked.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1473</Words>
  <Application>Microsoft Office PowerPoint</Application>
  <PresentationFormat>Widescreen</PresentationFormat>
  <Paragraphs>207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ShiftProof — Grand Finale</dc:title>
  <dc:subject>AI First Hackathon · IIT Jammu</dc:subject>
  <dc:creator>Lunaris</dc:creator>
  <cp:lastModifiedBy>Anikesh Paul</cp:lastModifiedBy>
  <cp:revision>2</cp:revision>
  <dcterms:created xsi:type="dcterms:W3CDTF">2026-08-21T09:14:45Z</dcterms:created>
  <dcterms:modified xsi:type="dcterms:W3CDTF">2026-08-21T10:28:03Z</dcterms:modified>
</cp:coreProperties>
</file>